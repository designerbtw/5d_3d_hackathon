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перемещения страницы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8C80449-D118-4C72-8A96-8A764764A7B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3D6518-48BC-4C0F-B399-CE37A1C5F3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E11355-2B49-4D8F-9D22-C4220D6859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6F996A-8D73-47DD-A285-CBEAECE7AD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3735E8-628C-44AA-898C-8D5AB378AC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5B63E-39A2-4975-8711-3FEDF14836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7BC17A-C090-4403-9EB2-D6AF5EC380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3FB297-AB7E-4EEC-B901-52F0F79EB4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47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3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</a:t>
            </a: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щёлкните мышью</a:t>
            </a:r>
            <a:endParaRPr lang="ru-RU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592640"/>
            <a:ext cx="10566000" cy="445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812880" y="219960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8A52"/>
                </a:solidFill>
                <a:effectLst/>
                <a:uFillTx/>
                <a:latin typeface="Arial"/>
                <a:ea typeface="Arial"/>
              </a:rPr>
              <a:t>Хакатон «Открой Моспром» · кейс </a:t>
            </a:r>
            <a:r>
              <a:rPr lang="en-US" sz="1400" b="1" u="none" strike="noStrike">
                <a:solidFill>
                  <a:srgbClr val="F08A52"/>
                </a:solidFill>
                <a:effectLst/>
                <a:uFillTx/>
                <a:latin typeface="Arial"/>
                <a:ea typeface="Arial"/>
              </a:rPr>
              <a:t>Stereotech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12880" y="2651760"/>
            <a:ext cx="10883160" cy="130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AI-</a:t>
            </a: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ассистент </a:t>
            </a: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подбора </a:t>
            </a: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параметро</a:t>
            </a: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в 3D/5D-</a:t>
            </a: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печати</a:t>
            </a:r>
            <a:endParaRPr lang="ru-RU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12880" y="4134960"/>
            <a:ext cx="108831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52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3DA"/>
                </a:solidFill>
                <a:effectLst/>
                <a:uFillTx/>
                <a:latin typeface="Arial"/>
                <a:ea typeface="Arial"/>
              </a:rPr>
              <a:t>Плагин для STE Slicer: от </a:t>
            </a:r>
            <a:r>
              <a:rPr lang="en-US" sz="1800" b="0" u="none" strike="noStrike">
                <a:solidFill>
                  <a:srgbClr val="C9D3DA"/>
                </a:solidFill>
                <a:effectLst/>
                <a:uFillTx/>
                <a:latin typeface="Arial"/>
                <a:ea typeface="Arial"/>
              </a:rPr>
              <a:t>описания задачи до G-code с </a:t>
            </a:r>
            <a:r>
              <a:rPr lang="en-US" sz="1800" b="0" u="none" strike="noStrike">
                <a:solidFill>
                  <a:srgbClr val="C9D3DA"/>
                </a:solidFill>
                <a:effectLst/>
                <a:uFillTx/>
                <a:latin typeface="Arial"/>
                <a:ea typeface="Arial"/>
              </a:rPr>
              <a:t>объяснением решений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12880" y="6238080"/>
            <a:ext cx="17197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rial"/>
                <a:ea typeface="Arial"/>
              </a:rPr>
              <a:t>Комарики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739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Кто работает </a:t>
            </a:r>
            <a:r>
              <a:rPr lang="en-US" sz="3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со слайсером</a:t>
            </a:r>
            <a:endParaRPr lang="ru-RU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816120" y="1519560"/>
            <a:ext cx="3396960" cy="202536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023120" y="1726560"/>
            <a:ext cx="307224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Новичок и студент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1023120" y="2062080"/>
            <a:ext cx="3186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Задача:</a:t>
            </a: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 напечатать первую деталь.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023120" y="2378160"/>
            <a:ext cx="3072240" cy="7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Боль:</a:t>
            </a: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 более 100 параметров, непонятно, что менять; пробные печати съедают материал.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4397400" y="1519560"/>
            <a:ext cx="3396960" cy="202536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4604400" y="1726560"/>
            <a:ext cx="307224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Инженер-конструктор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604400" y="2062080"/>
            <a:ext cx="307224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Задача:</a:t>
            </a: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 функциональная деталь под нагрузку.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4604400" y="2618280"/>
            <a:ext cx="3072240" cy="7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Боль:</a:t>
            </a: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 знает деталь, но не технологию: режим, ориентацию и материал выбирает наугад.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7978680" y="1519560"/>
            <a:ext cx="3396960" cy="202536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8186040" y="1726560"/>
            <a:ext cx="307224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Опытный технолог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8186040" y="2062080"/>
            <a:ext cx="307224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Задача:</a:t>
            </a: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 стабильное качество на разных материалах.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8186040" y="2618280"/>
            <a:ext cx="3072240" cy="7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Боль:</a:t>
            </a: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 на каждую новую катушку нужна серия калибровочных тестов.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812880" y="6238080"/>
            <a:ext cx="75844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rial"/>
                <a:ea typeface="Arial"/>
              </a:rPr>
              <a:t>Сегменты — наши гипотезы, их подтверждают интервью и комментарии экспертов · 2 / 7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97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739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Интервью с опытным пользователем FDM-печати</a:t>
            </a:r>
            <a:endParaRPr lang="ru-RU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816120" y="1994400"/>
            <a:ext cx="5200200" cy="1229040"/>
          </a:xfrm>
          <a:prstGeom prst="roundRect">
            <a:avLst>
              <a:gd name="adj" fmla="val 8005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1023120" y="2201760"/>
            <a:ext cx="4929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Влага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1023120" y="2536920"/>
            <a:ext cx="4929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PETG и нейлон перед печатью нужно сушить. PLA и ABS к влаге устойчивее.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6175440" y="1994400"/>
            <a:ext cx="5200200" cy="1229040"/>
          </a:xfrm>
          <a:prstGeom prst="roundRect">
            <a:avLst>
              <a:gd name="adj" fmla="val 8005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6382440" y="2201760"/>
            <a:ext cx="4929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Смена производителя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6382440" y="2536920"/>
            <a:ext cx="4929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Пресеты в целом рабочие, но температуру, а затем скорости приходится подбирать заново.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816120" y="3382920"/>
            <a:ext cx="5200200" cy="1229040"/>
          </a:xfrm>
          <a:prstGeom prst="roundRect">
            <a:avLst>
              <a:gd name="adj" fmla="val 8005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023120" y="3589920"/>
            <a:ext cx="4929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Серия тестов на катушку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1023120" y="3925080"/>
            <a:ext cx="4929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Отдельные тест-модели на скорость, объёмный расход, обдув и температуру, плюс записи настроек.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6175440" y="3382920"/>
            <a:ext cx="5200200" cy="1229040"/>
          </a:xfrm>
          <a:prstGeom prst="roundRect">
            <a:avLst>
              <a:gd name="adj" fmla="val 8005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6382440" y="3589920"/>
            <a:ext cx="4929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Размытые диапазоны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6382440" y="3925080"/>
            <a:ext cx="4929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На упаковке только «215–230 °C» и общий совет по обдуву: подбор идёт методом проб.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812880" y="4844160"/>
            <a:ext cx="10566000" cy="850680"/>
          </a:xfrm>
          <a:prstGeom prst="roundRect">
            <a:avLst>
              <a:gd name="adj" fmla="val 11940"/>
            </a:avLst>
          </a:prstGeom>
          <a:solidFill>
            <a:srgbClr val="1420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8720" tIns="147960" rIns="0" bIns="122760" anchor="t">
            <a:normAutofit/>
          </a:bodyPr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08A52"/>
                </a:solidFill>
                <a:effectLst/>
                <a:uFillTx/>
                <a:latin typeface="Arial"/>
                <a:ea typeface="Arial"/>
              </a:rPr>
              <a:t>Вывод:</a:t>
            </a:r>
            <a:r>
              <a:rPr lang="en-US" sz="15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 у опытного пользователя главная боль в материале. Параметры нужно привязывать к свойствам конкретного филамента.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812880" y="6238080"/>
            <a:ext cx="4025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rial"/>
                <a:ea typeface="Arial"/>
              </a:rPr>
              <a:t>Интервью №1, пересказ своими словами · 3 / 7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739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Конкуренты и аналоги</a:t>
            </a:r>
            <a:endParaRPr lang="ru-RU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" name="Table 0"/>
          <p:cNvGraphicFramePr/>
          <p:nvPr/>
        </p:nvGraphicFramePr>
        <p:xfrm>
          <a:off x="819720" y="1523520"/>
          <a:ext cx="10558800" cy="2900160"/>
        </p:xfrm>
        <a:graphic>
          <a:graphicData uri="http://schemas.openxmlformats.org/drawingml/2006/table">
            <a:tbl>
              <a:tblPr/>
              <a:tblGrid>
                <a:gridCol w="3519720"/>
                <a:gridCol w="3519720"/>
                <a:gridCol w="3519720"/>
              </a:tblGrid>
              <a:tr h="44136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Подход</a:t>
                      </a:r>
                      <a:endParaRPr lang="ru-RU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141D26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141D26"/>
                      </a:solidFill>
                      <a:prstDash val="soli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Что даёт</a:t>
                      </a:r>
                      <a:endParaRPr lang="ru-RU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141D26"/>
                      </a:solidFill>
                      <a:prstDash val="solid"/>
                    </a:lnL>
                    <a:lnR w="12240">
                      <a:solidFill>
                        <a:srgbClr val="141D26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141D26"/>
                      </a:solidFill>
                      <a:prstDash val="soli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Чего не хватает</a:t>
                      </a:r>
                      <a:endParaRPr lang="ru-RU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141D26"/>
                      </a:solidFill>
                      <a:prstDash val="solid"/>
                    </a:lnL>
                    <a:lnR w="12240">
                      <a:solidFill>
                        <a:srgbClr val="141D26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141D26"/>
                      </a:solidFill>
                      <a:prstDash val="solid"/>
                    </a:lnB>
                    <a:solidFill>
                      <a:srgbClr val="14202B"/>
                    </a:solidFill>
                  </a:tcPr>
                </a:tc>
              </a:tr>
              <a:tr h="67248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Классические слайсеры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Cura, PrusaSlicer, Orca, Bambu Studio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141D26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Готовые пресеты и тонкая ручная настройка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141D26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Нет диалога и объяснений; смена материала и 5D остаются ручной работой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141D26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  <a:tr h="67248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Универсальные чат-боты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Советы по параметрам словами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 видят слайсер и модель, ничего не меняют, не нарезают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  <a:tr h="44136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ИИ-функции других слайсеров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[уточнить перед защитой]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[уточнить] · учёт 5D-режимов Stereotech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  <a:tr h="67248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Наш плагин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Один диалог: задача → режим 3D/5D, материал, ориентация, G-code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Развитие: параметры из свойств материала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" name="Text 1"/>
          <p:cNvSpPr/>
          <p:nvPr/>
        </p:nvSpPr>
        <p:spPr>
          <a:xfrm>
            <a:off x="812880" y="6238080"/>
            <a:ext cx="52405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rial"/>
                <a:ea typeface="Arial"/>
              </a:rPr>
              <a:t>Обзор на уровне подходов; детали продуктов уточняем · 4 / 7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739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Как плагин решает задачу</a:t>
            </a:r>
            <a:endParaRPr lang="ru-RU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816120" y="1879560"/>
            <a:ext cx="2273040" cy="1229040"/>
          </a:xfrm>
          <a:prstGeom prst="roundRect">
            <a:avLst>
              <a:gd name="adj" fmla="val 8005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023120" y="2086560"/>
            <a:ext cx="1914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Запрос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1023120" y="2422080"/>
            <a:ext cx="1914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Текст задачи, STL или фото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3193920" y="2298960"/>
            <a:ext cx="33480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3578400" y="1879560"/>
            <a:ext cx="2273040" cy="1229040"/>
          </a:xfrm>
          <a:prstGeom prst="roundRect">
            <a:avLst>
              <a:gd name="adj" fmla="val 8005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3785400" y="2086560"/>
            <a:ext cx="1914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Агент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3785400" y="2422080"/>
            <a:ext cx="1914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Модель выбирает, код проверяет значения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5956200" y="2298960"/>
            <a:ext cx="33480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6340320" y="1519560"/>
            <a:ext cx="2273040" cy="1949400"/>
          </a:xfrm>
          <a:prstGeom prst="roundRect">
            <a:avLst>
              <a:gd name="adj" fmla="val 5048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6547680" y="1726560"/>
            <a:ext cx="1914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STE Slicer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6547680" y="2062080"/>
            <a:ext cx="191448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Режим 3D/5D, материал, ориентация, расстановка, слайсинг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8718480" y="2298960"/>
            <a:ext cx="33480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9102600" y="1879560"/>
            <a:ext cx="2273040" cy="1229040"/>
          </a:xfrm>
          <a:prstGeom prst="roundRect">
            <a:avLst>
              <a:gd name="adj" fmla="val 8005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9309960" y="2086560"/>
            <a:ext cx="191448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Результат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9309960" y="2422080"/>
            <a:ext cx="1914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Проект 3MF, G-code и объяснение решений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812880" y="3701160"/>
            <a:ext cx="10566000" cy="1002960"/>
          </a:xfrm>
          <a:prstGeom prst="roundRect">
            <a:avLst>
              <a:gd name="adj" fmla="val 10127"/>
            </a:avLst>
          </a:prstGeom>
          <a:solidFill>
            <a:srgbClr val="1420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1066680" y="3904200"/>
            <a:ext cx="10359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08A52"/>
                </a:solidFill>
                <a:effectLst/>
                <a:uFillTx/>
                <a:latin typeface="Arial"/>
                <a:ea typeface="Arial"/>
              </a:rPr>
              <a:t>Код считает</a:t>
            </a:r>
            <a:r>
              <a:rPr lang="en-US" sz="15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 геометрию и проверяет каждое значение по белому списку.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1066680" y="4234320"/>
            <a:ext cx="10359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08A52"/>
                </a:solidFill>
                <a:effectLst/>
                <a:uFillTx/>
                <a:latin typeface="Arial"/>
                <a:ea typeface="Arial"/>
              </a:rPr>
              <a:t>Модель выбирает</a:t>
            </a:r>
            <a:r>
              <a:rPr lang="en-US" sz="15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 из вариантов и объясняет компромиссы.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812880" y="6238080"/>
            <a:ext cx="355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rial"/>
                <a:ea typeface="Arial"/>
              </a:rPr>
              <a:t>5 / 7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739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Ценность для пользователей</a:t>
            </a:r>
            <a:endParaRPr lang="ru-RU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" name="Table 0"/>
          <p:cNvGraphicFramePr/>
          <p:nvPr/>
        </p:nvGraphicFramePr>
        <p:xfrm>
          <a:off x="819720" y="1523520"/>
          <a:ext cx="10558800" cy="2900160"/>
        </p:xfrm>
        <a:graphic>
          <a:graphicData uri="http://schemas.openxmlformats.org/drawingml/2006/table">
            <a:tbl>
              <a:tblPr/>
              <a:tblGrid>
                <a:gridCol w="3519720"/>
                <a:gridCol w="3519720"/>
                <a:gridCol w="3519720"/>
              </a:tblGrid>
              <a:tr h="44136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Боль</a:t>
                      </a:r>
                      <a:endParaRPr lang="ru-RU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141D26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141D26"/>
                      </a:solidFill>
                      <a:prstDash val="soli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Что делает плагин</a:t>
                      </a:r>
                      <a:endParaRPr lang="ru-RU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141D26"/>
                      </a:solidFill>
                      <a:prstDash val="solid"/>
                    </a:lnL>
                    <a:lnR w="12240">
                      <a:solidFill>
                        <a:srgbClr val="141D26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141D26"/>
                      </a:solidFill>
                      <a:prstDash val="soli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Ожидаемый эффект</a:t>
                      </a:r>
                      <a:endParaRPr lang="ru-RU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141D26"/>
                      </a:solidFill>
                      <a:prstDash val="solid"/>
                    </a:lnL>
                    <a:lnR w="12240">
                      <a:solidFill>
                        <a:srgbClr val="141D26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141D26"/>
                      </a:solidFill>
                      <a:prstDash val="solid"/>
                    </a:lnB>
                    <a:solidFill>
                      <a:srgbClr val="14202B"/>
                    </a:solidFill>
                  </a:tcPr>
                </a:tc>
              </a:tr>
              <a:tr h="67248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Новичок не знает, что менять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141D26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Принимает задачу словами, настраивает и объясняет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141D26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Старт без изучения 100+ параметров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141D26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  <a:tr h="67248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Пробные печати тратят материал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Готовый проект и оценка времени и расхода до печати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Меньше переделок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  <a:tr h="67248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Смена материала — настройка заново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«Перенастрой на ABS» одной фразой, рецепты по материалам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Цель: минуты вместо серии тестов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  <a:tr h="441360"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Влага (из интервью)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Напоминает о сушке PETG и нейлона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tIns="101520" rIns="126720" bIns="101520" anchor="t">
                      <a:noAutofit/>
                    </a:bodyPr>
                    <a:p>
                      <a:pPr defTabSz="914400">
                        <a:lnSpc>
                          <a:spcPts val="182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420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Меньше брака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26720" marR="126720" marT="101520" marB="101520">
                    <a:lnL w="12240">
                      <a:solidFill>
                        <a:srgbClr val="C3C0BB"/>
                      </a:solidFill>
                      <a:prstDash val="solid"/>
                    </a:lnL>
                    <a:lnR w="12240">
                      <a:solidFill>
                        <a:srgbClr val="C3C0BB"/>
                      </a:solidFill>
                      <a:prstDash val="solid"/>
                    </a:lnR>
                    <a:lnT w="12240">
                      <a:solidFill>
                        <a:srgbClr val="C3C0BB"/>
                      </a:solidFill>
                      <a:prstDash val="solid"/>
                    </a:lnT>
                    <a:lnB w="12240">
                      <a:solidFill>
                        <a:srgbClr val="C3C0B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8" name="Text 1"/>
          <p:cNvSpPr/>
          <p:nvPr/>
        </p:nvSpPr>
        <p:spPr>
          <a:xfrm>
            <a:off x="812880" y="6238080"/>
            <a:ext cx="355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rial"/>
                <a:ea typeface="Arial"/>
              </a:rPr>
              <a:t>6 / 7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5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739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Статус и дальнейшие шаги</a:t>
            </a:r>
            <a:endParaRPr lang="ru-RU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816120" y="1519560"/>
            <a:ext cx="5187600" cy="2178000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1023120" y="1726560"/>
            <a:ext cx="491652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Уже проверено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1023120" y="2062080"/>
            <a:ext cx="491652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Выданная модель вызывает инструменты, принимает изображения и отвечает потоком.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1023120" y="2618280"/>
            <a:ext cx="491652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Сценарий «кронштейн, PETG, без поддержек» доходит до экспорта G-code и 3MF (пока на заглушках).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6188040" y="1519560"/>
            <a:ext cx="5187600" cy="2178000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395040" y="1726560"/>
            <a:ext cx="491652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4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4551F"/>
                </a:solidFill>
                <a:effectLst/>
                <a:uFillTx/>
                <a:latin typeface="Arial"/>
                <a:ea typeface="Arial"/>
              </a:rPr>
              <a:t>Дальше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6395040" y="2062080"/>
            <a:ext cx="49165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1. Подключить настоящий STE Slicer и режимы 3D/5D.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6395040" y="2378160"/>
            <a:ext cx="49165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2. База рецептов материалов, сверка с экспертом.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6395040" y="2694240"/>
            <a:ext cx="49165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3. Ориентация по геометрии модели.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395040" y="3010680"/>
            <a:ext cx="491652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9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02B"/>
                </a:solidFill>
                <a:effectLst/>
                <a:uFillTx/>
                <a:latin typeface="Arial"/>
                <a:ea typeface="Arial"/>
              </a:rPr>
              <a:t>4. Идея развития: «паспорт материала», параметры из свойств филамента.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812880" y="6238080"/>
            <a:ext cx="355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770"/>
                </a:solidFill>
                <a:effectLst/>
                <a:uFillTx/>
                <a:latin typeface="Arial"/>
                <a:ea typeface="Arial"/>
              </a:rPr>
              <a:t>7 / 7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I-ассистент подбора параметров 3D/5D-печати для STE Slicer">
  <a:themeElements>
    <a:clrScheme name="AI-ассистент подбора параметров 3D/5D-печати для STE Slicer">
      <a:dk1>
        <a:srgbClr val="14202B"/>
      </a:dk1>
      <a:lt1>
        <a:srgbClr val="F4F1EA"/>
      </a:lt1>
      <a:dk2>
        <a:srgbClr val="4C545B"/>
      </a:dk2>
      <a:lt2>
        <a:srgbClr val="DEDCD7"/>
      </a:lt2>
      <a:accent1>
        <a:srgbClr val="C4551F"/>
      </a:accent1>
      <a:accent2>
        <a:srgbClr val="F08A52"/>
      </a:accent2>
      <a:accent3>
        <a:srgbClr val="5B6770"/>
      </a:accent3>
      <a:accent4>
        <a:srgbClr val="C9D3DA"/>
      </a:accent4>
      <a:accent5>
        <a:srgbClr val="9AA0A6"/>
      </a:accent5>
      <a:accent6>
        <a:srgbClr val="6E7477"/>
      </a:accent6>
      <a:hlink>
        <a:srgbClr val="0563C1"/>
      </a:hlink>
      <a:folHlink>
        <a:srgbClr val="954F72"/>
      </a:folHlink>
    </a:clrScheme>
    <a:fontScheme name="AI-ассистент подбора параметров 3D/5D-печати для STE Slicer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2026-10-24T12:54:14Z</dcterms:created>
  <dc:creator/>
  <dc:description/>
  <dc:language>ru-RU</dc:language>
  <cp:lastModifiedBy/>
  <dcterms:modified xsi:type="dcterms:W3CDTF">2026-10-24T18:21:19Z</dcterms:modified>
  <cp:revision>2</cp:revision>
  <dc:subject/>
  <dc:title>AI-ассистент подбора параметров 3D/5D-печати для STE Slicer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